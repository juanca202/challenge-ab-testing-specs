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3" r:id="rId5"/>
    <p:sldId id="265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87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9791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· WORKSHOP GEN IA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A/B Testing en flujo de contratación de seguro embebido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del </a:t>
            </a:r>
            <a:r>
              <a:rPr lang="en-US" sz="20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4434840"/>
            <a:ext cx="1097280" cy="365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914400" y="4617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de Ahorro Online · Seguro Embebido · Microfrontend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4983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Bolivariano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1B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ALCANCE DE LA PROPUESTA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5C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Contexto y objetivo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4297680"/>
          </a:xfrm>
          <a:prstGeom prst="rect">
            <a:avLst/>
          </a:prstGeom>
          <a:solidFill>
            <a:srgbClr val="F2F6F7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1B8A95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B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contratación online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cuentas de ahorro digital del banco.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 embebido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microfrontend ya en producción, con pantalla de oferta dentro del </a:t>
            </a:r>
            <a:r>
              <a:rPr lang="en-US" sz="14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contratación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Ahorro online .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Interacciones de la pantalla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“Solicitar / Omitir” al ingresar; “Continuar / Anular solicitud” al regresar.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94960" cy="4297680"/>
          </a:xfrm>
          <a:prstGeom prst="rect">
            <a:avLst/>
          </a:prstGeom>
          <a:solidFill>
            <a:srgbClr val="0E5C6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6537960" y="1874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5BB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WORKSHOP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37960" y="22860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Construir el requerimiento de A/B testing </a:t>
            </a:r>
            <a:r>
              <a:rPr lang="en-US" sz="2000" b="1" dirty="0" err="1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sobre</a:t>
            </a:r>
            <a:r>
              <a:rPr lang="en-US" sz="20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un </a:t>
            </a:r>
            <a:r>
              <a:rPr lang="en-US" sz="2000" b="1" dirty="0" err="1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microfrontend</a:t>
            </a:r>
            <a:r>
              <a:rPr lang="en-US" sz="20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de </a:t>
            </a:r>
            <a:r>
              <a:rPr lang="en-US" sz="2000" b="1" dirty="0" err="1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seguros</a:t>
            </a:r>
            <a:r>
              <a:rPr lang="en-US" sz="20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embebidos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37960" y="402336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 err="1">
                <a:solidFill>
                  <a:srgbClr val="D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</a:t>
            </a:r>
            <a:r>
              <a:rPr lang="en-US" sz="1400" dirty="0">
                <a:solidFill>
                  <a:srgbClr val="D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D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400" dirty="0">
                <a:solidFill>
                  <a:srgbClr val="D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D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</a:t>
            </a:r>
            <a:r>
              <a:rPr lang="en-US" sz="1400" dirty="0">
                <a:solidFill>
                  <a:srgbClr val="D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D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400" dirty="0">
                <a:solidFill>
                  <a:srgbClr val="D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400" dirty="0" err="1">
                <a:solidFill>
                  <a:srgbClr val="D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exponga</a:t>
            </a:r>
            <a:r>
              <a:rPr lang="en-US" sz="1400" dirty="0">
                <a:solidFill>
                  <a:srgbClr val="D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D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400" dirty="0">
                <a:solidFill>
                  <a:srgbClr val="D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D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microfrontend</a:t>
            </a:r>
            <a:r>
              <a:rPr lang="en-US" sz="1400" dirty="0">
                <a:solidFill>
                  <a:srgbClr val="D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D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</a:t>
            </a:r>
            <a:r>
              <a:rPr lang="en-US" sz="1400" dirty="0">
                <a:solidFill>
                  <a:srgbClr val="D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capa de experimentación: asignación de variante, persistencia entre estados de </a:t>
            </a:r>
            <a:r>
              <a:rPr lang="en-US" sz="1400" dirty="0" err="1">
                <a:solidFill>
                  <a:srgbClr val="D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</a:t>
            </a:r>
            <a:r>
              <a:rPr lang="en-US" sz="1400" dirty="0">
                <a:solidFill>
                  <a:srgbClr val="D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· A/B Testing seguro embebido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1B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ENTENDIMIENTO DEL FLUJO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5C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El </a:t>
            </a:r>
            <a:r>
              <a:rPr lang="en-US" sz="2800" b="1" dirty="0" err="1">
                <a:solidFill>
                  <a:srgbClr val="0E5C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flujo</a:t>
            </a:r>
            <a:r>
              <a:rPr lang="en-US" sz="2800" b="1" dirty="0">
                <a:solidFill>
                  <a:srgbClr val="0E5C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r>
              <a:rPr lang="es-EC" sz="2800" b="1" noProof="0" dirty="0">
                <a:solidFill>
                  <a:srgbClr val="0E5C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</a:t>
            </a:r>
            <a:r>
              <a:rPr lang="en-US" sz="2800" b="1" dirty="0">
                <a:solidFill>
                  <a:srgbClr val="0E5C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experimentar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697480" cy="73152"/>
          </a:xfrm>
          <a:prstGeom prst="rect">
            <a:avLst/>
          </a:prstGeom>
          <a:solidFill>
            <a:srgbClr val="5BB5BB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841248" y="18562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5BB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21488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Ingreso a la pantalla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2743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llega a la oferta del seguro dentro del onboarding de cuenta de ahorro.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02152" y="169164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Shape 8"/>
          <p:cNvSpPr/>
          <p:nvPr/>
        </p:nvSpPr>
        <p:spPr>
          <a:xfrm>
            <a:off x="3502152" y="1691640"/>
            <a:ext cx="2697480" cy="73152"/>
          </a:xfrm>
          <a:prstGeom prst="rect">
            <a:avLst/>
          </a:prstGeom>
          <a:solidFill>
            <a:srgbClr val="1B8A95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3703320" y="18562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B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03320" y="21488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Estado A — primera vista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03320" y="2743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Botones: Solicitar / Omitir.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64224" y="169164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6364224" y="1691640"/>
            <a:ext cx="2697480" cy="73152"/>
          </a:xfrm>
          <a:prstGeom prst="rect">
            <a:avLst/>
          </a:prstGeom>
          <a:solidFill>
            <a:srgbClr val="0E5C6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6565392" y="18562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65392" y="21488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Avanza y regresa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65392" y="2743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usuario sale y vuelve a la pantalla, los CTA cambian de estado.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26296" y="169164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Shape 18"/>
          <p:cNvSpPr/>
          <p:nvPr/>
        </p:nvSpPr>
        <p:spPr>
          <a:xfrm>
            <a:off x="9226296" y="1691640"/>
            <a:ext cx="2697480" cy="73152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1" name="Text 19"/>
          <p:cNvSpPr/>
          <p:nvPr/>
        </p:nvSpPr>
        <p:spPr>
          <a:xfrm>
            <a:off x="9427464" y="18562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427464" y="21488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Estado B — al regresar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27464" y="2743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Botones: Continuar / Anular solicitud (según si solicitó antes).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794760"/>
            <a:ext cx="11018520" cy="2194560"/>
          </a:xfrm>
          <a:prstGeom prst="rect">
            <a:avLst/>
          </a:prstGeom>
          <a:solidFill>
            <a:srgbClr val="F2F6F7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5" name="Text 23"/>
          <p:cNvSpPr/>
          <p:nvPr/>
        </p:nvSpPr>
        <p:spPr>
          <a:xfrm>
            <a:off x="914400" y="39502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B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 A PROBAR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4400" y="4343400"/>
            <a:ext cx="5074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" name="Text 25"/>
          <p:cNvSpPr/>
          <p:nvPr/>
        </p:nvSpPr>
        <p:spPr>
          <a:xfrm>
            <a:off x="1051560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8A9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1783080" y="4434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Variante control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783080" y="48006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actual del seguro embebido, sin cambios.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4343400"/>
            <a:ext cx="5074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" name="Text 29"/>
          <p:cNvSpPr/>
          <p:nvPr/>
        </p:nvSpPr>
        <p:spPr>
          <a:xfrm>
            <a:off x="6446520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5C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7178040" y="4434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Variante challenger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78040" y="48006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con la hipótesis de mejora (copy, layout o CTA de </a:t>
            </a:r>
            <a:r>
              <a:rPr lang="en-US" sz="1200" dirty="0" err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</a:t>
            </a: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1200" dirty="0" err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compartido</a:t>
            </a: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· A/B Testing seguro embebido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1B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QUÉ NECESITAMOS Y QUÉ ENTREGAMOS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5C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Precondiciones y entregables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40080" y="1867593"/>
            <a:ext cx="5440680" cy="3176847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Shape 15"/>
          <p:cNvSpPr/>
          <p:nvPr/>
        </p:nvSpPr>
        <p:spPr>
          <a:xfrm>
            <a:off x="640080" y="1867594"/>
            <a:ext cx="5440680" cy="457200"/>
          </a:xfrm>
          <a:prstGeom prst="rect">
            <a:avLst/>
          </a:prstGeom>
          <a:solidFill>
            <a:srgbClr val="C97A0E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868680" y="193160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PRECONDICIONES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256032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7A0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r>
              <a:rPr lang="en-US" b="1" dirty="0">
                <a:solidFill>
                  <a:srgbClr val="C97A0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71600" y="257861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2937"/>
                </a:solidFill>
                <a:latin typeface="Verdana" pitchFamily="34" charset="0"/>
                <a:ea typeface="Verdana" pitchFamily="34" charset="-122"/>
              </a:rPr>
              <a:t>Diseño de </a:t>
            </a:r>
            <a:r>
              <a:rPr lang="en-US" sz="1300" b="1" dirty="0" err="1">
                <a:solidFill>
                  <a:srgbClr val="1F2937"/>
                </a:solidFill>
                <a:latin typeface="Verdana" pitchFamily="34" charset="0"/>
                <a:ea typeface="Verdana" pitchFamily="34" charset="-122"/>
              </a:rPr>
              <a:t>figma</a:t>
            </a:r>
            <a:endParaRPr lang="en-US" sz="1300" b="1" dirty="0">
              <a:solidFill>
                <a:srgbClr val="1F2937"/>
              </a:solidFill>
              <a:latin typeface="Verdana" pitchFamily="34" charset="0"/>
              <a:ea typeface="Verdana" pitchFamily="34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371600" y="290779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solución para </a:t>
            </a:r>
            <a:r>
              <a:rPr lang="en-US" sz="1100" dirty="0" err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movil</a:t>
            </a: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web 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1868982"/>
            <a:ext cx="5440680" cy="3176847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s-EC" dirty="0"/>
          </a:p>
        </p:txBody>
      </p:sp>
      <p:sp>
        <p:nvSpPr>
          <p:cNvPr id="29" name="Shape 27"/>
          <p:cNvSpPr/>
          <p:nvPr/>
        </p:nvSpPr>
        <p:spPr>
          <a:xfrm>
            <a:off x="6217920" y="1867594"/>
            <a:ext cx="5440680" cy="457200"/>
          </a:xfrm>
          <a:prstGeom prst="rect">
            <a:avLst/>
          </a:prstGeom>
          <a:solidFill>
            <a:srgbClr val="1D7A55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6446520" y="193160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 AL CIERRE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46520" y="2580826"/>
            <a:ext cx="292608" cy="292608"/>
          </a:xfrm>
          <a:prstGeom prst="ellipse">
            <a:avLst/>
          </a:prstGeom>
          <a:solidFill>
            <a:srgbClr val="1D7A55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2" name="Text 30"/>
          <p:cNvSpPr/>
          <p:nvPr/>
        </p:nvSpPr>
        <p:spPr>
          <a:xfrm>
            <a:off x="6446520" y="258082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58000" y="252596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Microfrontend con split A/B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58000" y="285514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100" dirty="0" err="1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</a:t>
            </a:r>
            <a:r>
              <a:rPr lang="en-US" sz="1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y B </a:t>
            </a:r>
            <a:r>
              <a:rPr lang="en-US" sz="1100" dirty="0" err="1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controladas</a:t>
            </a:r>
            <a:r>
              <a:rPr lang="en-US" sz="1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feature flags, </a:t>
            </a:r>
            <a:r>
              <a:rPr lang="en-US" sz="1100" dirty="0" err="1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persistentes</a:t>
            </a:r>
            <a:r>
              <a:rPr lang="en-US" sz="1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</a:t>
            </a:r>
            <a:r>
              <a:rPr lang="en-US" sz="1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100" dirty="0" err="1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</a:t>
            </a:r>
            <a:r>
              <a:rPr lang="en-US" sz="1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100" dirty="0" err="1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r>
              <a:rPr lang="en-US" sz="1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46520" y="3722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446520" y="3963511"/>
            <a:ext cx="292608" cy="292608"/>
          </a:xfrm>
          <a:prstGeom prst="ellipse">
            <a:avLst/>
          </a:prstGeom>
          <a:solidFill>
            <a:srgbClr val="1D7A55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0" name="Text 38"/>
          <p:cNvSpPr/>
          <p:nvPr/>
        </p:nvSpPr>
        <p:spPr>
          <a:xfrm>
            <a:off x="6432665" y="394965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858000" y="404595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300" b="1" noProof="0" dirty="0">
                <a:solidFill>
                  <a:srgbClr val="1F29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Explicación de fase de Desarrollo integrando SDD + IA y metodología.</a:t>
            </a:r>
            <a:endParaRPr lang="es-EC" sz="1300" noProof="0" dirty="0"/>
          </a:p>
        </p:txBody>
      </p:sp>
      <p:sp>
        <p:nvSpPr>
          <p:cNvPr id="43" name="Text 41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· A/B Testing seguro embebido</a:t>
            </a:r>
            <a:endParaRPr lang="en-US" sz="900" dirty="0"/>
          </a:p>
        </p:txBody>
      </p:sp>
      <p:sp>
        <p:nvSpPr>
          <p:cNvPr id="44" name="Shape 33">
            <a:extLst>
              <a:ext uri="{FF2B5EF4-FFF2-40B4-BE49-F238E27FC236}">
                <a16:creationId xmlns:a16="http://schemas.microsoft.com/office/drawing/2014/main" id="{C31D8F38-6CFC-1A9D-6D46-71629F9B53EB}"/>
              </a:ext>
            </a:extLst>
          </p:cNvPr>
          <p:cNvSpPr/>
          <p:nvPr/>
        </p:nvSpPr>
        <p:spPr>
          <a:xfrm>
            <a:off x="6446517" y="3292956"/>
            <a:ext cx="292608" cy="292608"/>
          </a:xfrm>
          <a:prstGeom prst="ellipse">
            <a:avLst/>
          </a:prstGeom>
          <a:solidFill>
            <a:srgbClr val="1D7A55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5" name="Text 34">
            <a:extLst>
              <a:ext uri="{FF2B5EF4-FFF2-40B4-BE49-F238E27FC236}">
                <a16:creationId xmlns:a16="http://schemas.microsoft.com/office/drawing/2014/main" id="{E5B867A9-3DD7-909F-DC70-6242323CB867}"/>
              </a:ext>
            </a:extLst>
          </p:cNvPr>
          <p:cNvSpPr/>
          <p:nvPr/>
        </p:nvSpPr>
        <p:spPr>
          <a:xfrm>
            <a:off x="6446517" y="330681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6" name="Text 35">
            <a:extLst>
              <a:ext uri="{FF2B5EF4-FFF2-40B4-BE49-F238E27FC236}">
                <a16:creationId xmlns:a16="http://schemas.microsoft.com/office/drawing/2014/main" id="{1F32BA3A-C183-ED0A-55B7-CA0D04C6DD80}"/>
              </a:ext>
            </a:extLst>
          </p:cNvPr>
          <p:cNvSpPr/>
          <p:nvPr/>
        </p:nvSpPr>
        <p:spPr>
          <a:xfrm>
            <a:off x="6876285" y="326413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Cumplimiento de SDLC + IA</a:t>
            </a:r>
          </a:p>
        </p:txBody>
      </p:sp>
      <p:sp>
        <p:nvSpPr>
          <p:cNvPr id="47" name="Text 36">
            <a:extLst>
              <a:ext uri="{FF2B5EF4-FFF2-40B4-BE49-F238E27FC236}">
                <a16:creationId xmlns:a16="http://schemas.microsoft.com/office/drawing/2014/main" id="{B1B4CC66-0C37-0012-CE84-A859E23A794B}"/>
              </a:ext>
            </a:extLst>
          </p:cNvPr>
          <p:cNvSpPr/>
          <p:nvPr/>
        </p:nvSpPr>
        <p:spPr>
          <a:xfrm>
            <a:off x="6885015" y="352017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debe cumplir los estándares de calidad del banco: análisis estático con SonarQube, análisis de seguridad y cobertura de pruebas unitarias.</a:t>
            </a:r>
            <a:endParaRPr lang="en-US" sz="1100" dirty="0"/>
          </a:p>
        </p:txBody>
      </p:sp>
      <p:sp>
        <p:nvSpPr>
          <p:cNvPr id="48" name="Text 18">
            <a:extLst>
              <a:ext uri="{FF2B5EF4-FFF2-40B4-BE49-F238E27FC236}">
                <a16:creationId xmlns:a16="http://schemas.microsoft.com/office/drawing/2014/main" id="{B49AFB69-E453-4FA1-D7E5-1CC2E25A14C6}"/>
              </a:ext>
            </a:extLst>
          </p:cNvPr>
          <p:cNvSpPr/>
          <p:nvPr/>
        </p:nvSpPr>
        <p:spPr>
          <a:xfrm>
            <a:off x="6871858" y="4451743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Feature flag manager API</a:t>
            </a:r>
            <a:endParaRPr lang="en-US" sz="1300" dirty="0"/>
          </a:p>
        </p:txBody>
      </p:sp>
      <p:sp>
        <p:nvSpPr>
          <p:cNvPr id="50" name="Shape 37">
            <a:extLst>
              <a:ext uri="{FF2B5EF4-FFF2-40B4-BE49-F238E27FC236}">
                <a16:creationId xmlns:a16="http://schemas.microsoft.com/office/drawing/2014/main" id="{03F61F80-8967-0B02-C2E9-B3DC2C3FAA31}"/>
              </a:ext>
            </a:extLst>
          </p:cNvPr>
          <p:cNvSpPr/>
          <p:nvPr/>
        </p:nvSpPr>
        <p:spPr>
          <a:xfrm>
            <a:off x="6488080" y="4462272"/>
            <a:ext cx="292608" cy="292608"/>
          </a:xfrm>
          <a:prstGeom prst="ellipse">
            <a:avLst/>
          </a:prstGeom>
          <a:solidFill>
            <a:srgbClr val="1D7A55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1" name="Text 38">
            <a:extLst>
              <a:ext uri="{FF2B5EF4-FFF2-40B4-BE49-F238E27FC236}">
                <a16:creationId xmlns:a16="http://schemas.microsoft.com/office/drawing/2014/main" id="{6A00D007-F6C7-9740-5AB2-EEC80E78A97C}"/>
              </a:ext>
            </a:extLst>
          </p:cNvPr>
          <p:cNvSpPr/>
          <p:nvPr/>
        </p:nvSpPr>
        <p:spPr>
          <a:xfrm>
            <a:off x="6474228" y="446227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2" name="Text 24">
            <a:extLst>
              <a:ext uri="{FF2B5EF4-FFF2-40B4-BE49-F238E27FC236}">
                <a16:creationId xmlns:a16="http://schemas.microsoft.com/office/drawing/2014/main" id="{C5ED0469-6A68-EE89-C311-5EC4CA172098}"/>
              </a:ext>
            </a:extLst>
          </p:cNvPr>
          <p:cNvSpPr/>
          <p:nvPr/>
        </p:nvSpPr>
        <p:spPr>
          <a:xfrm>
            <a:off x="1325880" y="3176853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2937"/>
                </a:solidFill>
                <a:latin typeface="Verdana" pitchFamily="34" charset="0"/>
                <a:ea typeface="Verdana" pitchFamily="34" charset="-122"/>
              </a:rPr>
              <a:t>Stack </a:t>
            </a:r>
            <a:r>
              <a:rPr lang="es-EC" sz="1300" b="1" noProof="0" dirty="0">
                <a:solidFill>
                  <a:srgbClr val="1F2937"/>
                </a:solidFill>
                <a:latin typeface="Verdana" pitchFamily="34" charset="0"/>
                <a:ea typeface="Verdana" pitchFamily="34" charset="-122"/>
              </a:rPr>
              <a:t>tecnológico</a:t>
            </a:r>
            <a:endParaRPr lang="en-US" sz="1300" b="1" dirty="0">
              <a:solidFill>
                <a:srgbClr val="1F2937"/>
              </a:solidFill>
              <a:latin typeface="Verdana" pitchFamily="34" charset="0"/>
              <a:ea typeface="Verdana" pitchFamily="34" charset="-122"/>
            </a:endParaRPr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BCBC083C-1441-0DC5-2583-E4CE7102C0A1}"/>
              </a:ext>
            </a:extLst>
          </p:cNvPr>
          <p:cNvSpPr/>
          <p:nvPr/>
        </p:nvSpPr>
        <p:spPr>
          <a:xfrm>
            <a:off x="1298448" y="3463294"/>
            <a:ext cx="4480560" cy="60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100" dirty="0" err="1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Microfrontend</a:t>
            </a:r>
            <a:r>
              <a:rPr lang="en-US" sz="1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Next.js (Pages Router) v15.x con output: export para </a:t>
            </a:r>
            <a:r>
              <a:rPr lang="en-US" sz="1100" dirty="0" err="1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desplegarse</a:t>
            </a:r>
            <a:r>
              <a:rPr lang="en-US" sz="1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bucket S3 + CloudFront. Backend serverless </a:t>
            </a:r>
            <a:r>
              <a:rPr lang="en-US" sz="1100" dirty="0" err="1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AWS Lambda (Node.js + TypeScript), </a:t>
            </a:r>
            <a:r>
              <a:rPr lang="en-US" sz="1100" dirty="0" err="1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provisionado</a:t>
            </a:r>
            <a:r>
              <a:rPr lang="en-US" sz="1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AWS CDK. Redux para </a:t>
            </a:r>
            <a:r>
              <a:rPr lang="en-US" sz="1100" dirty="0" err="1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</a:t>
            </a:r>
            <a:r>
              <a:rPr lang="en-US" sz="1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r>
              <a:rPr lang="en-US" sz="1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  <a:p>
            <a:endParaRPr lang="es-EC" sz="1100" dirty="0">
              <a:solidFill>
                <a:srgbClr val="5F6B7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>
              <a:solidFill>
                <a:srgbClr val="5F6B7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54" name="Text 23">
            <a:extLst>
              <a:ext uri="{FF2B5EF4-FFF2-40B4-BE49-F238E27FC236}">
                <a16:creationId xmlns:a16="http://schemas.microsoft.com/office/drawing/2014/main" id="{B4581D2C-D773-35BE-EE8F-D2777F44339C}"/>
              </a:ext>
            </a:extLst>
          </p:cNvPr>
          <p:cNvSpPr/>
          <p:nvPr/>
        </p:nvSpPr>
        <p:spPr>
          <a:xfrm>
            <a:off x="868680" y="317034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7A0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02</a:t>
            </a:r>
            <a:endParaRPr lang="en-US" sz="1800" dirty="0"/>
          </a:p>
        </p:txBody>
      </p:sp>
      <p:sp>
        <p:nvSpPr>
          <p:cNvPr id="55" name="Text 24">
            <a:extLst>
              <a:ext uri="{FF2B5EF4-FFF2-40B4-BE49-F238E27FC236}">
                <a16:creationId xmlns:a16="http://schemas.microsoft.com/office/drawing/2014/main" id="{778027E8-A83F-22A9-7768-363A28DAF7E5}"/>
              </a:ext>
            </a:extLst>
          </p:cNvPr>
          <p:cNvSpPr/>
          <p:nvPr/>
        </p:nvSpPr>
        <p:spPr>
          <a:xfrm>
            <a:off x="1312025" y="41445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1300" b="1" dirty="0">
                <a:solidFill>
                  <a:srgbClr val="1F2937"/>
                </a:solidFill>
                <a:latin typeface="Verdana" pitchFamily="34" charset="0"/>
                <a:ea typeface="Verdana" pitchFamily="34" charset="-122"/>
              </a:rPr>
              <a:t>Contrato de las </a:t>
            </a:r>
            <a:r>
              <a:rPr lang="es-MX" sz="1300" b="1" dirty="0" err="1">
                <a:solidFill>
                  <a:srgbClr val="1F2937"/>
                </a:solidFill>
                <a:latin typeface="Verdana" pitchFamily="34" charset="0"/>
                <a:ea typeface="Verdana" pitchFamily="34" charset="-122"/>
              </a:rPr>
              <a:t>APIs</a:t>
            </a:r>
            <a:r>
              <a:rPr lang="es-MX" sz="1300" b="1" dirty="0">
                <a:solidFill>
                  <a:srgbClr val="1F2937"/>
                </a:solidFill>
                <a:latin typeface="Verdana" pitchFamily="34" charset="0"/>
                <a:ea typeface="Verdana" pitchFamily="34" charset="-122"/>
              </a:rPr>
              <a:t> y </a:t>
            </a:r>
            <a:r>
              <a:rPr lang="es-MX" sz="1300" b="1" dirty="0" err="1">
                <a:solidFill>
                  <a:srgbClr val="1F2937"/>
                </a:solidFill>
                <a:latin typeface="Verdana" pitchFamily="34" charset="0"/>
                <a:ea typeface="Verdana" pitchFamily="34" charset="-122"/>
              </a:rPr>
              <a:t>mocks</a:t>
            </a:r>
            <a:r>
              <a:rPr lang="es-MX" sz="1300" b="1" dirty="0">
                <a:solidFill>
                  <a:srgbClr val="1F2937"/>
                </a:solidFill>
                <a:latin typeface="Verdana" pitchFamily="34" charset="0"/>
                <a:ea typeface="Verdana" pitchFamily="34" charset="-122"/>
              </a:rPr>
              <a:t> </a:t>
            </a:r>
            <a:endParaRPr lang="en-US" sz="1300" b="1" dirty="0">
              <a:solidFill>
                <a:srgbClr val="1F2937"/>
              </a:solidFill>
              <a:latin typeface="Verdana" pitchFamily="34" charset="0"/>
              <a:ea typeface="Verdana" pitchFamily="34" charset="-122"/>
            </a:endParaRPr>
          </a:p>
        </p:txBody>
      </p:sp>
      <p:sp>
        <p:nvSpPr>
          <p:cNvPr id="56" name="Text 23">
            <a:extLst>
              <a:ext uri="{FF2B5EF4-FFF2-40B4-BE49-F238E27FC236}">
                <a16:creationId xmlns:a16="http://schemas.microsoft.com/office/drawing/2014/main" id="{F3D5D6D2-CA7A-C2FE-DEEC-86C502142643}"/>
              </a:ext>
            </a:extLst>
          </p:cNvPr>
          <p:cNvSpPr/>
          <p:nvPr/>
        </p:nvSpPr>
        <p:spPr>
          <a:xfrm>
            <a:off x="896389" y="41217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7A0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03</a:t>
            </a:r>
            <a:endParaRPr lang="en-US" sz="1800" dirty="0"/>
          </a:p>
        </p:txBody>
      </p:sp>
      <p:sp>
        <p:nvSpPr>
          <p:cNvPr id="57" name="Text 25">
            <a:extLst>
              <a:ext uri="{FF2B5EF4-FFF2-40B4-BE49-F238E27FC236}">
                <a16:creationId xmlns:a16="http://schemas.microsoft.com/office/drawing/2014/main" id="{25F7DEFC-F1A1-A763-BD3D-19097E3ACB1B}"/>
              </a:ext>
            </a:extLst>
          </p:cNvPr>
          <p:cNvSpPr/>
          <p:nvPr/>
        </p:nvSpPr>
        <p:spPr>
          <a:xfrm>
            <a:off x="1312025" y="44874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C" sz="1100" noProof="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entregara un contrato de API para listar el producto a presentar en el </a:t>
            </a:r>
            <a:r>
              <a:rPr lang="es-EC" sz="1100" noProof="0" dirty="0" err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microfrontend</a:t>
            </a:r>
            <a:r>
              <a:rPr lang="es-EC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r>
              <a:rPr lang="es-EC" sz="1100" noProof="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persistencia </a:t>
            </a:r>
            <a:r>
              <a:rPr lang="es-EC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cotización se realizara en memoria del </a:t>
            </a:r>
            <a:r>
              <a:rPr lang="es-EC" sz="1100" dirty="0" err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microfrontend</a:t>
            </a:r>
            <a:endParaRPr lang="es-EC" sz="1100" noProof="0" dirty="0"/>
          </a:p>
        </p:txBody>
      </p:sp>
      <p:sp>
        <p:nvSpPr>
          <p:cNvPr id="58" name="Text 30">
            <a:extLst>
              <a:ext uri="{FF2B5EF4-FFF2-40B4-BE49-F238E27FC236}">
                <a16:creationId xmlns:a16="http://schemas.microsoft.com/office/drawing/2014/main" id="{EEDD0233-1AA4-CD7A-A473-B6B1DD4407F6}"/>
              </a:ext>
            </a:extLst>
          </p:cNvPr>
          <p:cNvSpPr/>
          <p:nvPr/>
        </p:nvSpPr>
        <p:spPr>
          <a:xfrm>
            <a:off x="6858000" y="475488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para crear y administrar los feature flags del producto.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1206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8A9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Gracias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· A/B Testing en flujo de seguro embebido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11630</TotalTime>
  <Words>497</Words>
  <Application>Microsoft Office PowerPoint</Application>
  <PresentationFormat>Panorámica</PresentationFormat>
  <Paragraphs>78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Verdana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Propuesta: A/B Testing en flujo de contratación de seguro embebido</dc:title>
  <dc:subject>PptxGenJS Presentation</dc:subject>
  <dc:creator>Banco Bolivariano</dc:creator>
  <cp:lastModifiedBy>Luis Mora Camacho</cp:lastModifiedBy>
  <cp:revision>18</cp:revision>
  <dcterms:created xsi:type="dcterms:W3CDTF">2026-05-29T16:46:50Z</dcterms:created>
  <dcterms:modified xsi:type="dcterms:W3CDTF">2026-06-11T14:02:19Z</dcterms:modified>
</cp:coreProperties>
</file>